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807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31720"/>
            <a:ext cx="882396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Session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From Classification Problems to Spam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Calibri"/>
              </a:rPr>
              <a:t>■  Classification Problems</a:t>
            </a:r>
          </a:p>
          <a:p>
            <a:pPr algn="l"/>
            <a:r>
              <a:rPr sz="1200" b="0">
                <a:solidFill>
                  <a:srgbClr val="02C39A"/>
                </a:solidFill>
                <a:latin typeface="Calibri"/>
              </a:rPr>
              <a:t>■  Sigmoid Function &amp; Decision Boundaries</a:t>
            </a:r>
          </a:p>
          <a:p>
            <a:pPr algn="l"/>
            <a:r>
              <a:rPr sz="1200" b="0">
                <a:solidFill>
                  <a:srgbClr val="02C39A"/>
                </a:solidFill>
                <a:latin typeface="Calibri"/>
              </a:rPr>
              <a:t>■  Model Training &amp; Evaluation</a:t>
            </a:r>
          </a:p>
          <a:p>
            <a:pPr algn="l"/>
            <a:r>
              <a:rPr sz="1200" b="0">
                <a:solidFill>
                  <a:srgbClr val="02C39A"/>
                </a:solidFill>
                <a:latin typeface="Calibri"/>
              </a:rPr>
              <a:t>■  Hands-on: Spam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AI / ML Foundations  |  College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1  ·  Classification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What is a Classification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In regression, we predict a number.
In classification, we predict a category.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4389120" cy="685800"/>
          </a:xfrm>
          <a:prstGeom prst="rect">
            <a:avLst/>
          </a:prstGeom>
          <a:solidFill>
            <a:srgbClr val="E0F7F5"/>
          </a:solidFill>
          <a:ln w="1905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02536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📌  Classification predicts which group/class
        an item belongs to — not a number.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2788920" cy="21762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27889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88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🩺  Medical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Is this tumour
Malignant or Benign?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96512"/>
            <a:ext cx="2057400" cy="38404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 Yes / 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743200"/>
            <a:ext cx="2788920" cy="21762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743200"/>
            <a:ext cx="27889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788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📧 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918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Is this email
Spam or Not Spam?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4096512"/>
            <a:ext cx="2057400" cy="38404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114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 Spam / Ham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2788920" cy="21762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743200"/>
            <a:ext cx="27889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7889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🌤  Weather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918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Will it rain
tomorrow?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096512"/>
            <a:ext cx="2057400" cy="38404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114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 Yes / 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1  ·  Classification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Why Not Just Use Linear Regression?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Linear regression can predict values like 2.7 or -1.5.
But probability must stay between 0 and 1.  Linear regression breaks this rule.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425196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5564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42519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21992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Output: any real number (-∞ to +∞)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25496"/>
            <a:ext cx="425196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98648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Best for: house prices, salaries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02152"/>
            <a:ext cx="42519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575304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Can predict nonsense like 1.8 or -0.3
for a probability!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78808"/>
            <a:ext cx="425196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251960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Uses straight 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719072"/>
            <a:ext cx="4251960" cy="402336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175564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148840"/>
            <a:ext cx="42519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2221992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Output: probability (0 to 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825496"/>
            <a:ext cx="425196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2898648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Best for: spam, disease, fraud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3502152"/>
            <a:ext cx="42519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575304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Always outputs valid probability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178808"/>
            <a:ext cx="425196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0328" y="4251960"/>
            <a:ext cx="4041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Uses S-shaped sigmoid curve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E0F7F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1888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💡  Logistic Regression is NOT actually a regression — it's a classification algorithm!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2  ·  Sigmoid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The Sigmoid Function — The Heart of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841248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2C39A"/>
                </a:solidFill>
                <a:latin typeface="Calibri"/>
              </a:rPr>
              <a:t>σ(z) = 1 / (1 + e⁻ᶻ)      where    z = w₁x₁ + w₂x₂ + … + 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54864" cy="768096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Output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0 to 1  →  valid probability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505456"/>
            <a:ext cx="54864" cy="768096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At z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950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σ(0) = 0.5  →  50/50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46704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46704"/>
            <a:ext cx="54864" cy="768096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985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At z very 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σ(z) → 1  →  almost certain Spam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7952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87952"/>
            <a:ext cx="54864" cy="768096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611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At z very 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7200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σ(z) → 0  →  almost certain Not Spam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27632"/>
            <a:ext cx="46634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2  ·  Sigmoid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Worked Example: Is This Email Spam?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An email has: 20 spam words, 10 exclamation marks, 5 links.
The model has learned weights: w₁=0.3, w₂=0.5, w₃=0.2, bias b = −8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8412480" cy="1005840"/>
          </a:xfrm>
          <a:prstGeom prst="rect">
            <a:avLst/>
          </a:prstGeom>
          <a:solidFill>
            <a:srgbClr val="F0FDFA"/>
          </a:solidFill>
          <a:ln w="1905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55648"/>
            <a:ext cx="1005840" cy="100584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1051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B94"/>
                </a:solidFill>
                <a:latin typeface="Calibri"/>
              </a:rPr>
              <a:t>Compute z  (weighted sum)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ourier New"/>
              </a:rPr>
              <a:t>z = 0.3×20  +  0.5×10  +  0.2×5  +  (−8)
  = 6  +  5  +  1  −  8  = 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52928"/>
            <a:ext cx="8412480" cy="1005840"/>
          </a:xfrm>
          <a:prstGeom prst="rect">
            <a:avLst/>
          </a:prstGeom>
          <a:solidFill>
            <a:srgbClr val="F0F9FF"/>
          </a:solidFill>
          <a:ln w="19050">
            <a:solidFill>
              <a:srgbClr val="068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52928"/>
            <a:ext cx="1005840" cy="1005840"/>
          </a:xfrm>
          <a:prstGeom prst="rect">
            <a:avLst/>
          </a:prstGeom>
          <a:solidFill>
            <a:srgbClr val="06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0779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82D0"/>
                </a:solidFill>
                <a:latin typeface="Calibri"/>
              </a:rPr>
              <a:t>Apply sigmoid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0040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ourier New"/>
              </a:rPr>
              <a:t>σ(4) = 1 / (1 + e⁻⁴) = 1 / (1 + 0.018) ≈  0.982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0208"/>
            <a:ext cx="8412480" cy="1005840"/>
          </a:xfrm>
          <a:prstGeom prst="rect">
            <a:avLst/>
          </a:prstGeom>
          <a:solidFill>
            <a:srgbClr val="FFFEE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50208"/>
            <a:ext cx="100584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96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0507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Apply decision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9768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ourier New"/>
              </a:rPr>
              <a:t>0.982 ≥ 0.5   →   Predict SPAM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3  ·  Decision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Decision Boundary — The Dividing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The decision boundary is the line (or curve) that separates the two classes.
Where the model says "I'm 50/50" — that's the boundary.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19072"/>
            <a:ext cx="5074920" cy="3246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40680" y="1719072"/>
            <a:ext cx="3520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1719072"/>
            <a:ext cx="54864" cy="73152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7393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B94"/>
                </a:solidFill>
                <a:latin typeface="Calibri"/>
              </a:rPr>
              <a:t>Above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4825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Model predicts Spam (P ≥ 0.5)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2523744"/>
            <a:ext cx="3520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2523744"/>
            <a:ext cx="54864" cy="731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57860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Below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5292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Model predicts Not Spam (P &lt; 0.5)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3328415"/>
            <a:ext cx="3520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3328415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338327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On the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65759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P = 0.5  →  uncertain!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4133087"/>
            <a:ext cx="3520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4133087"/>
            <a:ext cx="54864" cy="731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18795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4622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Default is 0.5; can be 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4  · 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How Does the Model Learn?  (Training)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645920" cy="1719072"/>
          </a:xfrm>
          <a:prstGeom prst="rect">
            <a:avLst/>
          </a:prstGeom>
          <a:solidFill>
            <a:srgbClr val="FFFFFF"/>
          </a:solidFill>
          <a:ln w="2286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64592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241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490472"/>
            <a:ext cx="15179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Start with random weights
(w₁, w₂, …,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8249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005840"/>
            <a:ext cx="1645920" cy="1719072"/>
          </a:xfrm>
          <a:prstGeom prst="rect">
            <a:avLst/>
          </a:prstGeom>
          <a:solidFill>
            <a:srgbClr val="FFFFFF"/>
          </a:solidFill>
          <a:ln w="2286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1005840"/>
            <a:ext cx="1645920" cy="43891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0241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1490472"/>
            <a:ext cx="15179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For each email:
Compute ẑ → sigmoid → P(Spam)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68249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59" y="1005840"/>
            <a:ext cx="1645920" cy="1719072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59" y="1005840"/>
            <a:ext cx="164592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10241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1" y="1490472"/>
            <a:ext cx="15179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Calculate Log Loss:
How wrong was the prediction?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168249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19" y="1005840"/>
            <a:ext cx="1645920" cy="1719072"/>
          </a:xfrm>
          <a:prstGeom prst="rect">
            <a:avLst/>
          </a:prstGeom>
          <a:solidFill>
            <a:srgbClr val="FFFFFF"/>
          </a:solidFill>
          <a:ln w="22860">
            <a:solidFill>
              <a:srgbClr val="068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19" y="1005840"/>
            <a:ext cx="1645920" cy="438912"/>
          </a:xfrm>
          <a:prstGeom prst="rect">
            <a:avLst/>
          </a:prstGeom>
          <a:solidFill>
            <a:srgbClr val="06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19" y="10241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1" y="1490472"/>
            <a:ext cx="15179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Adjust weights (Gradient Descent)
to reduce the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39" y="168249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1005840"/>
            <a:ext cx="1645920" cy="1719072"/>
          </a:xfrm>
          <a:prstGeom prst="rect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79" y="1005840"/>
            <a:ext cx="164592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79" y="10241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1490472"/>
            <a:ext cx="151790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Repeat for all emails
(one epoch). Do many epochs.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34640"/>
            <a:ext cx="850392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80360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2C39A"/>
                </a:solidFill>
                <a:latin typeface="Calibri"/>
              </a:rPr>
              <a:t>Log Loss = −[y · log(p)  +  (1−y) · log(1−p)]    ← what the model minimizes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456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Loss goes down as model learns: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730752"/>
            <a:ext cx="8503920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4  · 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Log Loss — How We Measure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Log Loss penalises the model MORE when it is very CONFIDENT and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792224" cy="512064"/>
          </a:xfrm>
          <a:prstGeom prst="rect">
            <a:avLst/>
          </a:prstGeom>
          <a:solidFill>
            <a:srgbClr val="0D1B3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5448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1463040"/>
            <a:ext cx="1975104" cy="512064"/>
          </a:xfrm>
          <a:prstGeom prst="rect">
            <a:avLst/>
          </a:prstGeom>
          <a:solidFill>
            <a:srgbClr val="0D1B3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54480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Predicted P(Spam)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463040"/>
            <a:ext cx="1609344" cy="512064"/>
          </a:xfrm>
          <a:prstGeom prst="rect">
            <a:avLst/>
          </a:prstGeom>
          <a:solidFill>
            <a:srgbClr val="0D1B3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554480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7024" y="1463040"/>
            <a:ext cx="2798064" cy="512064"/>
          </a:xfrm>
          <a:prstGeom prst="rect">
            <a:avLst/>
          </a:prstGeom>
          <a:solidFill>
            <a:srgbClr val="0D1B3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176" y="155448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179222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10312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Spam (y=1)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2011680"/>
            <a:ext cx="197510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103120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 = 0.99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011680"/>
            <a:ext cx="160934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103120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Very Low 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07024" y="2011680"/>
            <a:ext cx="279806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0176" y="210312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Correct + confident → good!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60320"/>
            <a:ext cx="1792224" cy="512064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65176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Spam (y=1)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" y="2560320"/>
            <a:ext cx="1975104" cy="512064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651760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 = 0.60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2560320"/>
            <a:ext cx="1609344" cy="512064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2651760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7024" y="2560320"/>
            <a:ext cx="2798064" cy="512064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0176" y="265176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Correct but unsure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08960"/>
            <a:ext cx="179222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0040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Spam (y=1)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12848" y="3108960"/>
            <a:ext cx="197510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200400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 = 0.10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3108960"/>
            <a:ext cx="160934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5968" y="3200400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  <a:latin typeface="Calibri"/>
              </a:rPr>
              <a:t>Very High  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7024" y="3108960"/>
            <a:ext cx="279806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0176" y="320040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Wrong + confident → BIG penalty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657600"/>
            <a:ext cx="179222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749039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Not Spam (y=0)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12848" y="3657600"/>
            <a:ext cx="197510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3749039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 = 0.01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42816" y="3657600"/>
            <a:ext cx="160934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5968" y="3749039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Very Low 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7024" y="3657600"/>
            <a:ext cx="2798064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6" y="3749039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Correct + confident → good!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06240"/>
            <a:ext cx="179222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297679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Not Spam (y=0)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12848" y="4206240"/>
            <a:ext cx="197510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0" y="4297679"/>
            <a:ext cx="1847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 = 0.90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2816" y="4206240"/>
            <a:ext cx="160934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15968" y="4297679"/>
            <a:ext cx="1481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  <a:latin typeface="Calibri"/>
              </a:rPr>
              <a:t>Very High  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07024" y="4206240"/>
            <a:ext cx="2798064" cy="512064"/>
          </a:xfrm>
          <a:prstGeom prst="rect">
            <a:avLst/>
          </a:prstGeom>
          <a:solidFill>
            <a:srgbClr val="FFF0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0176" y="4297679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Wrong + confident → BIG penalty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E0F7F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791456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💡  Gradient Descent nudges the weights step-by-step to minimise this total loss across all training emails.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5  · 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Evaluating the Model —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After training, we test on 100 unseen emails and build a Confusion Matrix: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4752"/>
            <a:ext cx="457200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83480" y="1444752"/>
            <a:ext cx="39776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80" y="1444752"/>
            <a:ext cx="54864" cy="78638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90472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3E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1907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</a:rPr>
              <a:t>(52+35)/100 = 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3852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Overall correct predictions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2322576"/>
            <a:ext cx="39776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2322576"/>
            <a:ext cx="54864" cy="786384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368296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9B94"/>
                </a:solidFill>
                <a:latin typeface="Calibri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59689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</a:rPr>
              <a:t>52/(52+5) = 91.2%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8163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Of all spam calls, how many really were?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3200400"/>
            <a:ext cx="39776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3200400"/>
            <a:ext cx="54864" cy="7863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24612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7472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</a:rPr>
              <a:t>52/(52+8) = 86.7%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69417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Of all actual spam, how many did we catch?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4078224"/>
            <a:ext cx="39776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80" y="4078224"/>
            <a:ext cx="54864" cy="7863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412394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  <a:latin typeface="Calibri"/>
              </a:rPr>
              <a:t>F1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35254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</a:rPr>
              <a:t>≈ 88.8%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57200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Balance between Precision &amp; Recall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Topic 5  · 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Precision vs Recall — The Trade-off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212080" cy="35478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0" y="960120"/>
            <a:ext cx="320040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960120"/>
            <a:ext cx="54864" cy="153619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0058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B94"/>
                </a:solidFill>
                <a:latin typeface="Calibri"/>
              </a:rPr>
              <a:t>When to prefer Recall?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316736"/>
            <a:ext cx="2971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Medical diagnosis — missing a sick
patient is WORSE than a false alarm.
→ Maximise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2606040"/>
            <a:ext cx="320040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2606040"/>
            <a:ext cx="54864" cy="1536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651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When to prefer Precision?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62656"/>
            <a:ext cx="2971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Spam filter — flagging real emails
as spam is annoying &amp; costly.
→ Maximise 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1830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💡  F1 Score = Harmonic Mean of Precision &amp; Recall  →  use when both matter equally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🔬  Hands-On  ·  Spam Detector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Building a Spam Classifier with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5349240" cy="3840480"/>
          </a:xfrm>
          <a:prstGeom prst="rect">
            <a:avLst/>
          </a:prstGeom>
          <a:solidFill>
            <a:srgbClr val="0A1428"/>
          </a:solidFill>
          <a:ln w="1524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166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FFD8"/>
                </a:solidFill>
                <a:latin typeface="Courier New"/>
              </a:rPr>
              <a:t>from sklearn.linear_model import LogisticRegression
from sklearn.model_selection import train_test_split
from sklearn.metrics import classification_report
# Features: [spam_words, exclamations, links]
X = [[20,10,5],[2,1,0],[18,8,3],[1,0,1],
     [15,6,4],[3,2,0],[22,12,6],[0,0,0]]
y = [1,0,1,0,1,0,1,0]  # 1=Spam, 0=Not Spam
X_train,X_test,y_train,y_test = train_test_split(
    X, y, test_size=0.2, random_state=42)
model = LogisticRegression()
model.fit(X_train, y_train)     # TRAIN
y_pred = model.predict(X_test)  # PREDICT
print(classification_report(y_test, y_pred))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115568"/>
            <a:ext cx="3017520" cy="1737360"/>
          </a:xfrm>
          <a:prstGeom prst="rect">
            <a:avLst/>
          </a:prstGeom>
          <a:solidFill>
            <a:srgbClr val="0A1428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1612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Sample 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426464"/>
            <a:ext cx="288036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D8"/>
                </a:solidFill>
                <a:latin typeface="Courier New"/>
              </a:rPr>
              <a:t>              precision  recall
  Not Spam        0.91    0.87
  Spam            0.85    0.89
  Accuracy:       0.87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971800"/>
            <a:ext cx="3017520" cy="475488"/>
          </a:xfrm>
          <a:prstGeom prst="rect">
            <a:avLst/>
          </a:prstGeom>
          <a:solidFill>
            <a:srgbClr val="052540"/>
          </a:solidFill>
          <a:ln w="1016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300837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C39A"/>
                </a:solidFill>
                <a:latin typeface="Courier New"/>
              </a:rPr>
              <a:t>fit()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320954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Trains the model on labelled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493008"/>
            <a:ext cx="3017520" cy="475488"/>
          </a:xfrm>
          <a:prstGeom prst="rect">
            <a:avLst/>
          </a:prstGeom>
          <a:solidFill>
            <a:srgbClr val="052540"/>
          </a:solidFill>
          <a:ln w="1016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352958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C39A"/>
                </a:solidFill>
                <a:latin typeface="Courier New"/>
              </a:rPr>
              <a:t>predict()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37307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Predicts class for new emails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014215"/>
            <a:ext cx="3017520" cy="475488"/>
          </a:xfrm>
          <a:prstGeom prst="rect">
            <a:avLst/>
          </a:prstGeom>
          <a:solidFill>
            <a:srgbClr val="052540"/>
          </a:solidFill>
          <a:ln w="1016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4050791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C39A"/>
                </a:solidFill>
                <a:latin typeface="Courier New"/>
              </a:rPr>
              <a:t>predict_proba()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4251959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Returns probabilities (0–1)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535424"/>
            <a:ext cx="3017520" cy="475488"/>
          </a:xfrm>
          <a:prstGeom prst="rect">
            <a:avLst/>
          </a:prstGeom>
          <a:solidFill>
            <a:srgbClr val="052540"/>
          </a:solidFill>
          <a:ln w="1016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45720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C39A"/>
                </a:solidFill>
                <a:latin typeface="Courier New"/>
              </a:rPr>
              <a:t>classification_report()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477316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Prints all 4 metrics at once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Summary  ·  Session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Session 22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627632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627632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42415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36192"/>
            <a:ext cx="1499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Predicts categories (Spam/Not Spam)
not continuous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4831" y="1005840"/>
            <a:ext cx="1627632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4831" y="1005840"/>
            <a:ext cx="1627632" cy="45720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1" y="1042415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Sigmoid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1536192"/>
            <a:ext cx="1499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Squashes any number to 0–1
giving a valid probability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3904" y="1005840"/>
            <a:ext cx="1627632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03904" y="1005840"/>
            <a:ext cx="162763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1042415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Decision
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1536192"/>
            <a:ext cx="1499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The dividing line between classes
default threshold = 0.5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2976" y="1005840"/>
            <a:ext cx="1627632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8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2976" y="1005840"/>
            <a:ext cx="1627632" cy="457200"/>
          </a:xfrm>
          <a:prstGeom prst="rect">
            <a:avLst/>
          </a:prstGeom>
          <a:solidFill>
            <a:srgbClr val="06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8696" y="1042415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Log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1536192"/>
            <a:ext cx="1499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Measures how wrong the model is;
Gradient Descent minimises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1005840"/>
            <a:ext cx="1627632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42048" y="1005840"/>
            <a:ext cx="1627632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1042415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536192"/>
            <a:ext cx="14996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Accuracy, Precision, Recall, F1
— each answers a different 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8412480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4787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2C39A"/>
                </a:solidFill>
                <a:latin typeface="Calibri"/>
              </a:rPr>
              <a:t>"Logistic Regression is the first step into the world of classification.
Master it, and every other classifier becomes easier to understand."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E0F7F5"/>
          </a:solidFill>
          <a:ln w="1524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📅  Next Session (23): Decision Trees — another powerful classification algorithm that works without probabilities!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